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1280160"/>
            <a:ext cx="4297680" cy="4297680"/>
          </a:xfrm>
          <a:prstGeom prst="ellipse">
            <a:avLst/>
          </a:prstGeom>
          <a:ln w="1905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ln w="19050">
            <a:solidFill>
              <a:srgbClr val="F2A93B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2194560"/>
            <a:ext cx="2468880" cy="2468880"/>
          </a:xfrm>
          <a:prstGeom prst="ellipse">
            <a:avLst/>
          </a:prstGeom>
          <a:ln w="19050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2651760"/>
            <a:ext cx="1554480" cy="1554480"/>
          </a:xfrm>
          <a:prstGeom prst="ellipse">
            <a:avLst/>
          </a:prstGeom>
          <a:ln w="19050">
            <a:solidFill>
              <a:srgbClr val="F2A93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0" y="306324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ACQUISITION · OPTICS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Lens Effects in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Acquisition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Distortion Problems and Engineering Solutions in Camera Lens Systems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49808" y="598932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Presentation  •  Compiled for coursework in Image Processing / Computer Vision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Lens Forms an Image</a:t>
            </a:r>
            <a:endParaRPr lang="en-US" sz="3000" dirty="0"/>
          </a:p>
        </p:txBody>
      </p:sp>
      <p:pic>
        <p:nvPicPr>
          <p:cNvPr id="4" name="Image 0" descr="/home/claude/lens_ppt/assets/lens_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6492240" cy="36393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69480" y="171907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3"/>
          <p:cNvSpPr/>
          <p:nvPr/>
        </p:nvSpPr>
        <p:spPr>
          <a:xfrm>
            <a:off x="7269480" y="17190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2668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Refraction, not a pinhole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26680" y="198424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lens bends light through curved glass surfaces to focus rays onto a sensor — unlike the ideal pinhole model used in basic geometry.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269480" y="301752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7269480" y="3017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26680" y="29443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vs. real optics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726680" y="3282696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thin-lens equation assumes perfect focusing. Real glass introduces shape and material imperfections that the ideal model ignores.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269480" y="4315968"/>
            <a:ext cx="310896" cy="3108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1"/>
          <p:cNvSpPr/>
          <p:nvPr/>
        </p:nvSpPr>
        <p:spPr>
          <a:xfrm>
            <a:off x="7269480" y="43159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26680" y="424281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726680" y="4581144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imperfections show up as geometric and colour errors in the captured image — the subject of this presentation.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5440680"/>
            <a:ext cx="1120140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544068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3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distortion discussed in this deck is a departure of a real lens from this ideal converging-ray model.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DISTORTION PROBLEMS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Geometric Distortion: Barrel &amp; Pincushion</a:t>
            </a:r>
            <a:endParaRPr lang="en-US" sz="2800" dirty="0"/>
          </a:p>
        </p:txBody>
      </p:sp>
      <p:pic>
        <p:nvPicPr>
          <p:cNvPr id="4" name="Image 0" descr="/home/claude/lens_ppt/assets/barrel_pincush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17320"/>
            <a:ext cx="10241280" cy="42793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870448"/>
            <a:ext cx="5349240" cy="6858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5870448"/>
            <a:ext cx="73152" cy="6858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870448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Barrel — wide-angle lenses: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Magnification falls with distance from the optical axis, so straight lines bow outward. Common in wide-angle and fisheye lenses.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0" y="5870448"/>
            <a:ext cx="5349240" cy="6858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0" y="5870448"/>
            <a:ext cx="73152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6629400" y="5870448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Pincushion — telephoto lenses: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Magnification rises with distance from the axis, pulling lines inward at the edges. Common in telephoto and zoom lenses.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DISTORTION PROBLEMS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Chromatic Aberration, Vignetting &amp; Spherical Error</a:t>
            </a:r>
            <a:endParaRPr lang="en-US" sz="2600" dirty="0"/>
          </a:p>
        </p:txBody>
      </p:sp>
      <p:pic>
        <p:nvPicPr>
          <p:cNvPr id="4" name="Image 0" descr="/home/claude/lens_ppt/assets/chroma_vignet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8412480" cy="4041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0" y="1554480"/>
            <a:ext cx="2514600" cy="404164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6" name="Text 3"/>
          <p:cNvSpPr/>
          <p:nvPr/>
        </p:nvSpPr>
        <p:spPr>
          <a:xfrm>
            <a:off x="9372600" y="1783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Aberration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372600" y="22860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striking the outer edge of a spherical lens focus closer than paraxial (central) rays, softening overall sharpness.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9372600" y="3794760"/>
            <a:ext cx="20574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72600" y="3931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images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372600" y="429768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fringing at edges, soft corners, uneven brightness across the frame — all reduce measurement and visual accuracy.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SOLUTIONS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Correcting Lens Distortion</a:t>
            </a:r>
            <a:endParaRPr lang="en-US" sz="3000" dirty="0"/>
          </a:p>
        </p:txBody>
      </p:sp>
      <p:pic>
        <p:nvPicPr>
          <p:cNvPr id="4" name="Image 0" descr="/home/claude/lens_ppt/assets/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11155680" cy="28437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709160"/>
            <a:ext cx="3611880" cy="16002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4910328"/>
            <a:ext cx="365760" cy="365760"/>
          </a:xfrm>
          <a:prstGeom prst="ellipse">
            <a:avLst/>
          </a:prstGeom>
          <a:solidFill>
            <a:srgbClr val="0F3A5F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910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80160" y="487375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fixes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5330952"/>
            <a:ext cx="3154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Achromatic &amp; apochromatic lens groups, aspherical elements, and multi-coating reduce aberration and flare at the optical level.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4709160"/>
            <a:ext cx="3611880" cy="16002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4910328"/>
            <a:ext cx="365760" cy="365760"/>
          </a:xfrm>
          <a:prstGeom prst="ellipse">
            <a:avLst/>
          </a:prstGeom>
          <a:solidFill>
            <a:srgbClr val="0F3A5F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4910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74920" y="487375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model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0" y="5330952"/>
            <a:ext cx="3154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Brown–Conrady model separates radial (k1, k2, k3) and tangential (p1, p2) distortion coefficients from a calibration pattern.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138160" y="4709160"/>
            <a:ext cx="3611880" cy="16002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6" name="Shape 13"/>
          <p:cNvSpPr/>
          <p:nvPr/>
        </p:nvSpPr>
        <p:spPr>
          <a:xfrm>
            <a:off x="8366760" y="4910328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4"/>
          <p:cNvSpPr/>
          <p:nvPr/>
        </p:nvSpPr>
        <p:spPr>
          <a:xfrm>
            <a:off x="8366760" y="4910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869680" y="487375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correction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66760" y="5330952"/>
            <a:ext cx="3154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OpenCV's calibrateCamera() and undistort() (or equivalent tools) remap pixels using the fitted coefficients to straighten the image.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3429000" cy="1554480"/>
          </a:xfrm>
          <a:prstGeom prst="rect">
            <a:avLst/>
          </a:prstGeom>
          <a:solidFill>
            <a:srgbClr val="0F3A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geometric distortion types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Barrel &amp; pincushion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429000" cy="1554480"/>
          </a:xfrm>
          <a:prstGeom prst="rect">
            <a:avLst/>
          </a:prstGeom>
          <a:solidFill>
            <a:srgbClr val="0F3A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9659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617720" y="27889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Brown–Conrady coefficients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17720" y="30632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k1, k2, k3, p1, p2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92440" y="1874520"/>
            <a:ext cx="3429000" cy="1554480"/>
          </a:xfrm>
          <a:prstGeom prst="rect">
            <a:avLst/>
          </a:prstGeom>
          <a:solidFill>
            <a:srgbClr val="0F3A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9659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366760" y="27889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error families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66760" y="30632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Chromatic, vignetting, spherical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867912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72160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lens departs from the ideal thin-lens model — distortion is a predictable, measurable consequence of optics, not a random flaw.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52628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37997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errors (barrel/pincushion) and optical errors (chromatic, vignetting, spherical) require different fixes — better glass vs. software remapping.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184648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0383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calibration with a known pattern (e.g. checkerboard) plus an undistortion pipeline restores accurate, measurement-ready images.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6309360"/>
            <a:ext cx="10972800" cy="0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 welcome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2026-07-21T03:51:16Z</dcterms:created>
  <dcterms:modified xsi:type="dcterms:W3CDTF">2026-07-21T03:51:16Z</dcterms:modified>
</cp:coreProperties>
</file>